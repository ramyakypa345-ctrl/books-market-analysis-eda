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98" r:id="rId5"/>
    <p:sldId id="260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92AD4-5E4C-450F-B259-3CF13FE280D2}" v="8" dt="2026-08-01T11:29:26.8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YA KYPA" userId="b402902a9523e7ea" providerId="LiveId" clId="{CFFF4D1F-224E-493E-9E5E-46970C05D3BE}"/>
    <pc:docChg chg="undo custSel addSld delSld modSld sldOrd">
      <pc:chgData name="RAMYA KYPA" userId="b402902a9523e7ea" providerId="LiveId" clId="{CFFF4D1F-224E-493E-9E5E-46970C05D3BE}" dt="2026-08-03T10:49:19.498" v="205" actId="20577"/>
      <pc:docMkLst>
        <pc:docMk/>
      </pc:docMkLst>
      <pc:sldChg chg="modSp mod">
        <pc:chgData name="RAMYA KYPA" userId="b402902a9523e7ea" providerId="LiveId" clId="{CFFF4D1F-224E-493E-9E5E-46970C05D3BE}" dt="2026-08-01T10:40:09.695" v="56" actId="255"/>
        <pc:sldMkLst>
          <pc:docMk/>
          <pc:sldMk cId="0" sldId="256"/>
        </pc:sldMkLst>
        <pc:spChg chg="mod">
          <ac:chgData name="RAMYA KYPA" userId="b402902a9523e7ea" providerId="LiveId" clId="{CFFF4D1F-224E-493E-9E5E-46970C05D3BE}" dt="2026-08-01T10:40:09.695" v="56" actId="255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RAMYA KYPA" userId="b402902a9523e7ea" providerId="LiveId" clId="{CFFF4D1F-224E-493E-9E5E-46970C05D3BE}" dt="2026-08-01T10:39:29.679" v="54" actId="113"/>
        <pc:sldMkLst>
          <pc:docMk/>
          <pc:sldMk cId="0" sldId="257"/>
        </pc:sldMkLst>
        <pc:spChg chg="mod">
          <ac:chgData name="RAMYA KYPA" userId="b402902a9523e7ea" providerId="LiveId" clId="{CFFF4D1F-224E-493E-9E5E-46970C05D3BE}" dt="2026-08-01T10:39:29.679" v="54" actId="113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RAMYA KYPA" userId="b402902a9523e7ea" providerId="LiveId" clId="{CFFF4D1F-224E-493E-9E5E-46970C05D3BE}" dt="2026-08-03T10:49:19.498" v="205" actId="20577"/>
        <pc:sldMkLst>
          <pc:docMk/>
          <pc:sldMk cId="0" sldId="258"/>
        </pc:sldMkLst>
        <pc:spChg chg="mod">
          <ac:chgData name="RAMYA KYPA" userId="b402902a9523e7ea" providerId="LiveId" clId="{CFFF4D1F-224E-493E-9E5E-46970C05D3BE}" dt="2026-08-03T10:49:19.498" v="205" actId="20577"/>
          <ac:spMkLst>
            <pc:docMk/>
            <pc:sldMk cId="0" sldId="258"/>
            <ac:spMk id="111" creationId="{00000000-0000-0000-0000-000000000000}"/>
          </ac:spMkLst>
        </pc:spChg>
      </pc:sldChg>
      <pc:sldChg chg="del">
        <pc:chgData name="RAMYA KYPA" userId="b402902a9523e7ea" providerId="LiveId" clId="{CFFF4D1F-224E-493E-9E5E-46970C05D3BE}" dt="2026-08-03T10:49:09.680" v="199" actId="47"/>
        <pc:sldMkLst>
          <pc:docMk/>
          <pc:sldMk cId="761516598" sldId="283"/>
        </pc:sldMkLst>
      </pc:sldChg>
      <pc:sldChg chg="modSp mod">
        <pc:chgData name="RAMYA KYPA" userId="b402902a9523e7ea" providerId="LiveId" clId="{CFFF4D1F-224E-493E-9E5E-46970C05D3BE}" dt="2026-08-01T11:31:38.072" v="196" actId="313"/>
        <pc:sldMkLst>
          <pc:docMk/>
          <pc:sldMk cId="2197263011" sldId="285"/>
        </pc:sldMkLst>
        <pc:spChg chg="mod">
          <ac:chgData name="RAMYA KYPA" userId="b402902a9523e7ea" providerId="LiveId" clId="{CFFF4D1F-224E-493E-9E5E-46970C05D3BE}" dt="2026-08-01T11:31:38.072" v="196" actId="313"/>
          <ac:spMkLst>
            <pc:docMk/>
            <pc:sldMk cId="2197263011" sldId="285"/>
            <ac:spMk id="3" creationId="{96388DBD-B904-17E8-17B2-401B06548F61}"/>
          </ac:spMkLst>
        </pc:spChg>
      </pc:sldChg>
      <pc:sldChg chg="modSp mod">
        <pc:chgData name="RAMYA KYPA" userId="b402902a9523e7ea" providerId="LiveId" clId="{CFFF4D1F-224E-493E-9E5E-46970C05D3BE}" dt="2026-08-01T11:31:44.898" v="197" actId="313"/>
        <pc:sldMkLst>
          <pc:docMk/>
          <pc:sldMk cId="388165853" sldId="286"/>
        </pc:sldMkLst>
        <pc:spChg chg="mod">
          <ac:chgData name="RAMYA KYPA" userId="b402902a9523e7ea" providerId="LiveId" clId="{CFFF4D1F-224E-493E-9E5E-46970C05D3BE}" dt="2026-08-01T11:31:44.898" v="197" actId="313"/>
          <ac:spMkLst>
            <pc:docMk/>
            <pc:sldMk cId="388165853" sldId="286"/>
            <ac:spMk id="3" creationId="{0C67F97A-1D74-D26C-2471-4EAB31C99713}"/>
          </ac:spMkLst>
        </pc:spChg>
      </pc:sldChg>
      <pc:sldChg chg="modSp mod">
        <pc:chgData name="RAMYA KYPA" userId="b402902a9523e7ea" providerId="LiveId" clId="{CFFF4D1F-224E-493E-9E5E-46970C05D3BE}" dt="2026-08-01T11:32:07.225" v="198" actId="313"/>
        <pc:sldMkLst>
          <pc:docMk/>
          <pc:sldMk cId="3613691975" sldId="291"/>
        </pc:sldMkLst>
        <pc:spChg chg="mod">
          <ac:chgData name="RAMYA KYPA" userId="b402902a9523e7ea" providerId="LiveId" clId="{CFFF4D1F-224E-493E-9E5E-46970C05D3BE}" dt="2026-08-01T11:32:07.225" v="198" actId="313"/>
          <ac:spMkLst>
            <pc:docMk/>
            <pc:sldMk cId="3613691975" sldId="291"/>
            <ac:spMk id="3" creationId="{B835EA94-7670-3B6E-4469-34D356C9C1BD}"/>
          </ac:spMkLst>
        </pc:spChg>
      </pc:sldChg>
      <pc:sldChg chg="modSp">
        <pc:chgData name="RAMYA KYPA" userId="b402902a9523e7ea" providerId="LiveId" clId="{CFFF4D1F-224E-493E-9E5E-46970C05D3BE}" dt="2026-08-01T11:15:26.951" v="175"/>
        <pc:sldMkLst>
          <pc:docMk/>
          <pc:sldMk cId="1783624840" sldId="294"/>
        </pc:sldMkLst>
        <pc:spChg chg="mod">
          <ac:chgData name="RAMYA KYPA" userId="b402902a9523e7ea" providerId="LiveId" clId="{CFFF4D1F-224E-493E-9E5E-46970C05D3BE}" dt="2026-08-01T11:15:26.951" v="175"/>
          <ac:spMkLst>
            <pc:docMk/>
            <pc:sldMk cId="1783624840" sldId="294"/>
            <ac:spMk id="3" creationId="{83E4DD68-375F-3885-C447-771B34D1DE70}"/>
          </ac:spMkLst>
        </pc:spChg>
      </pc:sldChg>
      <pc:sldChg chg="modSp new mod ord">
        <pc:chgData name="RAMYA KYPA" userId="b402902a9523e7ea" providerId="LiveId" clId="{CFFF4D1F-224E-493E-9E5E-46970C05D3BE}" dt="2026-08-01T11:12:11.536" v="174" actId="27636"/>
        <pc:sldMkLst>
          <pc:docMk/>
          <pc:sldMk cId="1886678877" sldId="298"/>
        </pc:sldMkLst>
        <pc:spChg chg="mod">
          <ac:chgData name="RAMYA KYPA" userId="b402902a9523e7ea" providerId="LiveId" clId="{CFFF4D1F-224E-493E-9E5E-46970C05D3BE}" dt="2026-08-01T10:47:33.296" v="154" actId="113"/>
          <ac:spMkLst>
            <pc:docMk/>
            <pc:sldMk cId="1886678877" sldId="298"/>
            <ac:spMk id="2" creationId="{F4FE9450-F704-8FD4-4CEC-0032F745809F}"/>
          </ac:spMkLst>
        </pc:spChg>
        <pc:spChg chg="mod">
          <ac:chgData name="RAMYA KYPA" userId="b402902a9523e7ea" providerId="LiveId" clId="{CFFF4D1F-224E-493E-9E5E-46970C05D3BE}" dt="2026-08-01T11:12:11.536" v="174" actId="27636"/>
          <ac:spMkLst>
            <pc:docMk/>
            <pc:sldMk cId="1886678877" sldId="298"/>
            <ac:spMk id="3" creationId="{D52FD032-73C2-A03B-B1C5-5CB264806E1C}"/>
          </ac:spMkLst>
        </pc:spChg>
        <pc:spChg chg="mod">
          <ac:chgData name="RAMYA KYPA" userId="b402902a9523e7ea" providerId="LiveId" clId="{CFFF4D1F-224E-493E-9E5E-46970C05D3BE}" dt="2026-08-01T10:48:25.418" v="158" actId="14100"/>
          <ac:spMkLst>
            <pc:docMk/>
            <pc:sldMk cId="1886678877" sldId="298"/>
            <ac:spMk id="4" creationId="{8D6A9487-3F40-A356-0E70-F2981E7C9A77}"/>
          </ac:spMkLst>
        </pc:spChg>
        <pc:spChg chg="mod">
          <ac:chgData name="RAMYA KYPA" userId="b402902a9523e7ea" providerId="LiveId" clId="{CFFF4D1F-224E-493E-9E5E-46970C05D3BE}" dt="2026-08-01T11:12:11.536" v="173" actId="27636"/>
          <ac:spMkLst>
            <pc:docMk/>
            <pc:sldMk cId="1886678877" sldId="298"/>
            <ac:spMk id="5" creationId="{0BFFE168-94FF-6FF6-61CA-E167C34F0F45}"/>
          </ac:spMkLst>
        </pc:spChg>
        <pc:spChg chg="mod">
          <ac:chgData name="RAMYA KYPA" userId="b402902a9523e7ea" providerId="LiveId" clId="{CFFF4D1F-224E-493E-9E5E-46970C05D3BE}" dt="2026-08-01T10:48:19.112" v="157" actId="255"/>
          <ac:spMkLst>
            <pc:docMk/>
            <pc:sldMk cId="1886678877" sldId="298"/>
            <ac:spMk id="6" creationId="{08A8E49E-9E37-9092-3EB2-CB2FA1463E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0FC21F6-E837-88E7-549F-4B0000EB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9FF8C61-9546-C3B1-C248-3893A56EA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561A233-3E57-4529-F930-5006925352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451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ooks.toscrap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 Market Analysis using Web Scraping &amp; Exploratory Data Analysis (EDA)</a:t>
            </a:r>
            <a:endParaRPr lang="en-US"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Ramya KYPA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57476" y="1299172"/>
            <a:ext cx="70074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MCA Graduate (2025)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Aspiring Data Analyst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Python, SQL, Power BI, Pandas &amp; Web Scraping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Passionate about solving business problems using data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www.linkedin.com/in/ramya-kypa-a01969409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ramyakypa345-ctrl</a:t>
            </a:r>
          </a:p>
          <a:p>
            <a:pPr lvl="0"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dirty="0"/>
              <a:t>Objective of the Project </a:t>
            </a:r>
          </a:p>
          <a:p>
            <a:pPr lvl="0"/>
            <a:r>
              <a:rPr lang="en-IN" dirty="0"/>
              <a:t>Dataset Collection </a:t>
            </a:r>
          </a:p>
          <a:p>
            <a:pPr lvl="0"/>
            <a:r>
              <a:rPr lang="en-IN" dirty="0"/>
              <a:t>Data Cleaning &amp; Preparation </a:t>
            </a:r>
          </a:p>
          <a:p>
            <a:pPr lvl="0"/>
            <a:r>
              <a:rPr lang="en-IN" dirty="0"/>
              <a:t>Exploratory Data Analysis  </a:t>
            </a:r>
          </a:p>
          <a:p>
            <a:pPr lvl="0"/>
            <a:r>
              <a:rPr lang="en-IN" dirty="0"/>
              <a:t>Key Business Insights </a:t>
            </a:r>
          </a:p>
          <a:p>
            <a:pPr lvl="0"/>
            <a:r>
              <a:rPr lang="en-IN" dirty="0"/>
              <a:t>Recommendations </a:t>
            </a:r>
          </a:p>
          <a:p>
            <a:pPr lvl="0"/>
            <a:r>
              <a:rPr lang="en-IN" dirty="0"/>
              <a:t>Conclusion </a:t>
            </a:r>
          </a:p>
          <a:p>
            <a:pPr lvl="0"/>
            <a:r>
              <a:rPr lang="en-IN"/>
              <a:t>Challenges </a:t>
            </a:r>
            <a:endParaRPr lang="en-IN" dirty="0"/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9450-F704-8FD4-4CEC-0032F7458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Problem Statement &amp; Objective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FD032-73C2-A03B-B1C5-5CB264806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829353" y="365125"/>
            <a:ext cx="121430" cy="116656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A9487-3F40-A356-0E70-F2981E7C9A7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1034980"/>
            <a:ext cx="2871511" cy="5154683"/>
          </a:xfrm>
        </p:spPr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IN" dirty="0"/>
              <a:t>Website</a:t>
            </a:r>
          </a:p>
          <a:p>
            <a:pPr marL="114300" indent="0">
              <a:buNone/>
            </a:pPr>
            <a:r>
              <a:rPr lang="en-IN" dirty="0"/>
              <a:t>   ↓</a:t>
            </a:r>
          </a:p>
          <a:p>
            <a:pPr marL="114300" indent="0">
              <a:buNone/>
            </a:pPr>
            <a:r>
              <a:rPr lang="en-IN" dirty="0"/>
              <a:t>Web Scraping</a:t>
            </a:r>
          </a:p>
          <a:p>
            <a:pPr marL="114300" indent="0">
              <a:buNone/>
            </a:pPr>
            <a:r>
              <a:rPr lang="en-IN" dirty="0"/>
              <a:t>   ↓</a:t>
            </a:r>
          </a:p>
          <a:p>
            <a:pPr marL="114300" indent="0">
              <a:buNone/>
            </a:pPr>
            <a:r>
              <a:rPr lang="en-IN" dirty="0"/>
              <a:t>Data Collection</a:t>
            </a:r>
          </a:p>
          <a:p>
            <a:pPr marL="114300" indent="0">
              <a:buNone/>
            </a:pPr>
            <a:r>
              <a:rPr lang="en-IN" dirty="0"/>
              <a:t>   ↓</a:t>
            </a:r>
          </a:p>
          <a:p>
            <a:pPr marL="114300" indent="0">
              <a:buNone/>
            </a:pPr>
            <a:r>
              <a:rPr lang="en-IN" dirty="0"/>
              <a:t>Data Cleaning</a:t>
            </a:r>
          </a:p>
          <a:p>
            <a:pPr marL="114300" indent="0">
              <a:buNone/>
            </a:pPr>
            <a:r>
              <a:rPr lang="en-IN" dirty="0"/>
              <a:t>   ↓</a:t>
            </a:r>
          </a:p>
          <a:p>
            <a:pPr marL="114300" indent="0">
              <a:buNone/>
            </a:pPr>
            <a:r>
              <a:rPr lang="en-IN" dirty="0"/>
              <a:t>EDA</a:t>
            </a:r>
          </a:p>
          <a:p>
            <a:pPr marL="114300" indent="0">
              <a:buNone/>
            </a:pPr>
            <a:r>
              <a:rPr lang="en-IN" dirty="0"/>
              <a:t>   ↓</a:t>
            </a:r>
          </a:p>
          <a:p>
            <a:pPr marL="114300" indent="0">
              <a:buNone/>
            </a:pPr>
            <a:r>
              <a:rPr lang="en-IN" dirty="0"/>
              <a:t>Business Insights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FFE168-94FF-6FF6-61CA-E167C34F0F4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 flipH="1" flipV="1">
            <a:off x="-753640" y="-216158"/>
            <a:ext cx="45719" cy="1130558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A8E49E-9E37-9092-3EB2-CB2FA1463E1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3868615" y="1034980"/>
            <a:ext cx="7486773" cy="515468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Problem Statement</a:t>
            </a:r>
          </a:p>
          <a:p>
            <a:r>
              <a:rPr lang="en-IN" sz="1700" dirty="0"/>
              <a:t>Online bookstores contain thousands of books with different prices, ratings and availability. Analysing this data manually is difficult and time-consuming.</a:t>
            </a:r>
          </a:p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pPr lvl="0"/>
            <a:r>
              <a:rPr lang="en-IN" sz="1600" dirty="0"/>
              <a:t>Collect book information using Web Scraping. </a:t>
            </a:r>
          </a:p>
          <a:p>
            <a:pPr lvl="0"/>
            <a:r>
              <a:rPr lang="en-IN" sz="1600" dirty="0"/>
              <a:t>Clean and preprocess the dataset. </a:t>
            </a:r>
          </a:p>
          <a:p>
            <a:pPr lvl="0"/>
            <a:r>
              <a:rPr lang="en-IN" sz="1600" dirty="0"/>
              <a:t>Analyse book prices and ratings. </a:t>
            </a:r>
          </a:p>
          <a:p>
            <a:pPr lvl="0"/>
            <a:r>
              <a:rPr lang="en-IN" sz="1600" dirty="0"/>
              <a:t>Understand category-wise distribution. </a:t>
            </a:r>
          </a:p>
          <a:p>
            <a:pPr lvl="0"/>
            <a:r>
              <a:rPr lang="en-IN" sz="1600" dirty="0"/>
              <a:t>Generate business insights for better decision-making.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67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C5238BD-70A1-2D13-7C0A-0F7B0CEB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357AC5EA-0643-C46F-EA54-CF3D37689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942" y="167571"/>
            <a:ext cx="10669538" cy="530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IN" b="1" dirty="0">
                <a:solidFill>
                  <a:srgbClr val="FF0000"/>
                </a:solidFill>
              </a:rPr>
              <a:t>Dataset Collection</a:t>
            </a:r>
          </a:p>
        </p:txBody>
      </p:sp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D014BECD-1B80-C681-CCAA-3C3509CD0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297" y="698090"/>
            <a:ext cx="11729883" cy="5572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IN" b="1" dirty="0"/>
              <a:t>Data Source</a:t>
            </a:r>
          </a:p>
          <a:p>
            <a:r>
              <a:rPr lang="en-IN" sz="1700" dirty="0"/>
              <a:t>Books to Scrape (</a:t>
            </a:r>
            <a:r>
              <a:rPr lang="en-IN" sz="1700" dirty="0">
                <a:hlinkClick r:id="rId3"/>
              </a:rPr>
              <a:t>http://books.toscrape.com</a:t>
            </a:r>
            <a:r>
              <a:rPr lang="en-IN" sz="1700" dirty="0"/>
              <a:t>)</a:t>
            </a:r>
          </a:p>
          <a:p>
            <a:pPr marL="114300" indent="0">
              <a:buNone/>
            </a:pPr>
            <a:r>
              <a:rPr lang="en-IN" b="1" dirty="0"/>
              <a:t>Technologies Used</a:t>
            </a:r>
          </a:p>
          <a:p>
            <a:pPr lvl="0"/>
            <a:r>
              <a:rPr lang="en-IN" sz="1700" b="1" dirty="0"/>
              <a:t>Python</a:t>
            </a:r>
            <a:r>
              <a:rPr lang="en-IN" sz="1700" dirty="0"/>
              <a:t> – Programming language </a:t>
            </a:r>
          </a:p>
          <a:p>
            <a:pPr lvl="0"/>
            <a:r>
              <a:rPr lang="en-IN" sz="1700" b="1" dirty="0"/>
              <a:t>Requests</a:t>
            </a:r>
            <a:r>
              <a:rPr lang="en-IN" sz="1700" dirty="0"/>
              <a:t> – Fetch HTML content from the website </a:t>
            </a:r>
          </a:p>
          <a:p>
            <a:pPr lvl="0"/>
            <a:r>
              <a:rPr lang="en-IN" sz="1700" b="1" dirty="0"/>
              <a:t>Beautiful Soup</a:t>
            </a:r>
            <a:r>
              <a:rPr lang="en-IN" sz="1700" dirty="0"/>
              <a:t> – Parse HTML and extract book information </a:t>
            </a:r>
          </a:p>
          <a:p>
            <a:pPr lvl="0"/>
            <a:r>
              <a:rPr lang="en-IN" sz="1700" b="1" dirty="0"/>
              <a:t>Pandas</a:t>
            </a:r>
            <a:r>
              <a:rPr lang="en-IN" sz="1700" dirty="0"/>
              <a:t> – Store, clean, and manipulate the dataset </a:t>
            </a:r>
          </a:p>
          <a:p>
            <a:pPr lvl="0"/>
            <a:r>
              <a:rPr lang="en-IN" sz="1700" b="1" dirty="0"/>
              <a:t>Matplotlib</a:t>
            </a:r>
            <a:r>
              <a:rPr lang="en-IN" sz="1700" dirty="0"/>
              <a:t> – Create charts and graphs </a:t>
            </a:r>
          </a:p>
          <a:p>
            <a:pPr lvl="0"/>
            <a:r>
              <a:rPr lang="en-IN" sz="1700" b="1" dirty="0"/>
              <a:t>Seaborn</a:t>
            </a:r>
            <a:r>
              <a:rPr lang="en-IN" sz="1700" dirty="0"/>
              <a:t> – Generate advanced statistical visualizations</a:t>
            </a:r>
          </a:p>
          <a:p>
            <a:pPr marL="114300" indent="0">
              <a:buNone/>
            </a:pPr>
            <a:r>
              <a:rPr lang="en-IN" b="1" dirty="0"/>
              <a:t>Data Collected</a:t>
            </a:r>
          </a:p>
          <a:p>
            <a:pPr lvl="0"/>
            <a:r>
              <a:rPr lang="en-IN" sz="1700" dirty="0"/>
              <a:t>Book Title </a:t>
            </a:r>
          </a:p>
          <a:p>
            <a:pPr lvl="0"/>
            <a:r>
              <a:rPr lang="en-IN" sz="1700" dirty="0"/>
              <a:t>Price </a:t>
            </a:r>
          </a:p>
          <a:p>
            <a:pPr lvl="0"/>
            <a:r>
              <a:rPr lang="en-IN" sz="1700" dirty="0"/>
              <a:t>Rating </a:t>
            </a:r>
          </a:p>
          <a:p>
            <a:pPr lvl="0"/>
            <a:r>
              <a:rPr lang="en-IN" sz="1700" dirty="0"/>
              <a:t>Availability </a:t>
            </a:r>
          </a:p>
          <a:p>
            <a:pPr lvl="0"/>
            <a:r>
              <a:rPr lang="en-IN" sz="1700" dirty="0"/>
              <a:t>Category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74A0E-7234-2E05-FCF9-528E492F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08" y="1228609"/>
            <a:ext cx="5335620" cy="343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3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E1D2-C061-D11B-1619-3B2B74BC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26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Data Cleaning &amp;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F86CB-47EA-94DD-F5CE-08BA0EECC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3394"/>
            <a:ext cx="10515600" cy="5203569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Data Cleaning Process</a:t>
            </a:r>
          </a:p>
          <a:p>
            <a:pPr lvl="0"/>
            <a:r>
              <a:rPr lang="en-IN" sz="1600" dirty="0"/>
              <a:t>Removed duplicate book records. </a:t>
            </a:r>
          </a:p>
          <a:p>
            <a:pPr lvl="0"/>
            <a:r>
              <a:rPr lang="en-IN" sz="1600" dirty="0"/>
              <a:t>Checked for missing (null) values. </a:t>
            </a:r>
          </a:p>
          <a:p>
            <a:pPr lvl="0"/>
            <a:r>
              <a:rPr lang="en-IN" sz="1600" dirty="0"/>
              <a:t>Converted </a:t>
            </a:r>
            <a:r>
              <a:rPr lang="en-IN" sz="1600" b="1" dirty="0"/>
              <a:t>Price</a:t>
            </a:r>
            <a:r>
              <a:rPr lang="en-IN" sz="1600" dirty="0"/>
              <a:t> from text to numeric format. </a:t>
            </a:r>
          </a:p>
          <a:p>
            <a:pPr lvl="0"/>
            <a:r>
              <a:rPr lang="en-IN" sz="1600" dirty="0"/>
              <a:t>Converted </a:t>
            </a:r>
            <a:r>
              <a:rPr lang="en-IN" sz="1600" b="1" dirty="0"/>
              <a:t>Star Ratings</a:t>
            </a:r>
            <a:r>
              <a:rPr lang="en-IN" sz="1600" dirty="0"/>
              <a:t> (One, Two, Three, Four, Five) </a:t>
            </a:r>
          </a:p>
          <a:p>
            <a:pPr marL="114300" lvl="0" indent="0">
              <a:buNone/>
            </a:pPr>
            <a:r>
              <a:rPr lang="en-IN" sz="1600" dirty="0"/>
              <a:t>        into numerical values (1–5). </a:t>
            </a:r>
          </a:p>
          <a:p>
            <a:pPr lvl="0"/>
            <a:r>
              <a:rPr lang="en-IN" sz="1600" dirty="0"/>
              <a:t>Extracted </a:t>
            </a:r>
            <a:r>
              <a:rPr lang="en-IN" sz="1600" b="1" dirty="0"/>
              <a:t>Category</a:t>
            </a:r>
            <a:r>
              <a:rPr lang="en-IN" sz="1600" dirty="0"/>
              <a:t> information for each book. </a:t>
            </a:r>
          </a:p>
          <a:p>
            <a:pPr lvl="0"/>
            <a:r>
              <a:rPr lang="en-IN" sz="1600" dirty="0"/>
              <a:t>Standardized column names and text values. </a:t>
            </a:r>
          </a:p>
          <a:p>
            <a:pPr lvl="0"/>
            <a:r>
              <a:rPr lang="en-IN" sz="1600" dirty="0"/>
              <a:t>Created a clean dataset ready for analysis.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26569D-B4CE-30FC-803D-3C2F4479D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623" y="1102967"/>
            <a:ext cx="6025734" cy="341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41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1B2A-FF41-9DA9-0F18-BA1D5FEE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478"/>
            <a:ext cx="10515600" cy="80624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Exploratory Data Analysis: Price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88DBD-B904-17E8-17B2-401B06548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12724"/>
            <a:ext cx="10515600" cy="516423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600" dirty="0"/>
              <a:t>Analyse the distribution of book prices to understand </a:t>
            </a:r>
          </a:p>
          <a:p>
            <a:pPr marL="114300" indent="0">
              <a:buNone/>
            </a:pPr>
            <a:r>
              <a:rPr lang="en-IN" sz="1600" dirty="0"/>
              <a:t>        the pricing pattern in the online book market.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600" dirty="0"/>
              <a:t>Most books are concentrated in the </a:t>
            </a:r>
            <a:r>
              <a:rPr lang="en-IN" sz="1600" b="1" dirty="0"/>
              <a:t>low and medium price ranges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Only a few books are available in the </a:t>
            </a:r>
            <a:r>
              <a:rPr lang="en-IN" sz="1600" b="1" dirty="0"/>
              <a:t>high-price range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The distribution helps identify the most common selling price of books.</a:t>
            </a:r>
          </a:p>
          <a:p>
            <a:pPr marL="114300" indent="0">
              <a:buNone/>
            </a:pPr>
            <a:r>
              <a:rPr lang="en-IN" b="1" dirty="0"/>
              <a:t>Business Insight</a:t>
            </a:r>
          </a:p>
          <a:p>
            <a:pPr lvl="0"/>
            <a:r>
              <a:rPr lang="en-IN" sz="1600" dirty="0"/>
              <a:t>Affordable books dominate the market. </a:t>
            </a:r>
          </a:p>
          <a:p>
            <a:pPr lvl="0"/>
            <a:r>
              <a:rPr lang="en-IN" sz="1600" dirty="0"/>
              <a:t>Publishers and retailers can focus on competitive pricing to attract more customers. </a:t>
            </a:r>
          </a:p>
          <a:p>
            <a:pPr lvl="0"/>
            <a:r>
              <a:rPr lang="en-IN" sz="1600" dirty="0"/>
              <a:t>Price analysis helps understand customer purchasing trends. </a:t>
            </a:r>
          </a:p>
          <a:p>
            <a:pPr marL="114300" indent="0">
              <a:buNone/>
            </a:pPr>
            <a:endParaRPr lang="en-IN" sz="1600" b="1" dirty="0"/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BCC60-6007-3018-D867-EEFC41B37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965" y="1347021"/>
            <a:ext cx="4776886" cy="321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63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45F3-56C1-9B00-78A6-EC5A3697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82590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Rating Distribution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7F97A-1D74-D26C-2471-4EAB31C99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2890"/>
            <a:ext cx="10515600" cy="51740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600" dirty="0"/>
              <a:t>To analyse the distribution of customer ratings and</a:t>
            </a:r>
          </a:p>
          <a:p>
            <a:pPr marL="114300" indent="0">
              <a:buNone/>
            </a:pPr>
            <a:r>
              <a:rPr lang="en-IN" sz="1600" dirty="0"/>
              <a:t>        understand the overall quality of books available in</a:t>
            </a:r>
          </a:p>
          <a:p>
            <a:pPr marL="114300" indent="0">
              <a:buNone/>
            </a:pPr>
            <a:r>
              <a:rPr lang="en-IN" sz="1600" dirty="0"/>
              <a:t>         the online bookstore.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600" dirty="0"/>
              <a:t>Books are rated on a </a:t>
            </a:r>
            <a:r>
              <a:rPr lang="en-IN" sz="1600" b="1" dirty="0"/>
              <a:t>1 to 5-star scale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Most books have </a:t>
            </a:r>
            <a:r>
              <a:rPr lang="en-IN" sz="1600" b="1" dirty="0"/>
              <a:t>3-star and 4-star ratings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A smaller number of books have </a:t>
            </a:r>
            <a:r>
              <a:rPr lang="en-IN" sz="1600" b="1" dirty="0"/>
              <a:t>1-star or 5-star ratings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The ratings provide an overview of the quality and popularity of books.</a:t>
            </a:r>
          </a:p>
          <a:p>
            <a:pPr marL="114300" indent="0">
              <a:buNone/>
            </a:pPr>
            <a:r>
              <a:rPr lang="en-IN" b="1" dirty="0"/>
              <a:t>Business Insights</a:t>
            </a:r>
          </a:p>
          <a:p>
            <a:pPr lvl="0"/>
            <a:r>
              <a:rPr lang="en-IN" sz="1700" dirty="0"/>
              <a:t>Books with higher ratings are more likely to attract customers. </a:t>
            </a:r>
          </a:p>
          <a:p>
            <a:pPr lvl="0"/>
            <a:r>
              <a:rPr lang="en-IN" sz="1700" dirty="0"/>
              <a:t>Highly rated books can be recommended or promoted to increase sales. </a:t>
            </a:r>
          </a:p>
          <a:p>
            <a:pPr lvl="0"/>
            <a:r>
              <a:rPr lang="en-IN" sz="1700" dirty="0"/>
              <a:t>Lower-rated books may require better visibility, pricing strategies, or quality improvements.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24DBE-A8B6-018B-4776-64057E360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689" y="786581"/>
            <a:ext cx="5126497" cy="346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5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FFBE-C42D-00BD-A3DB-A6A9E927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4"/>
            <a:ext cx="10515600" cy="678426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Category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FEEC8-F341-F107-B161-689DA74F8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65240"/>
            <a:ext cx="10515600" cy="531172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600" dirty="0"/>
              <a:t>To analyse the distribution of books across different </a:t>
            </a:r>
          </a:p>
          <a:p>
            <a:pPr marL="114300" indent="0">
              <a:buNone/>
            </a:pPr>
            <a:r>
              <a:rPr lang="en-IN" sz="1600" dirty="0"/>
              <a:t>       categories and identify the categories with the highest</a:t>
            </a:r>
          </a:p>
          <a:p>
            <a:pPr marL="114300" indent="0">
              <a:buNone/>
            </a:pPr>
            <a:r>
              <a:rPr lang="en-IN" sz="1600" dirty="0"/>
              <a:t>        number of books.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600" dirty="0"/>
              <a:t>Books are grouped into multiple categories such as Fiction,</a:t>
            </a:r>
          </a:p>
          <a:p>
            <a:pPr marL="114300" lvl="0" indent="0">
              <a:buNone/>
            </a:pPr>
            <a:r>
              <a:rPr lang="en-IN" sz="1600" dirty="0"/>
              <a:t>        Mystery, Travel, History, Science, and others. </a:t>
            </a:r>
          </a:p>
          <a:p>
            <a:pPr lvl="0"/>
            <a:r>
              <a:rPr lang="en-IN" sz="1600" dirty="0"/>
              <a:t>Some categories contain significantly more books than others. </a:t>
            </a:r>
          </a:p>
          <a:p>
            <a:pPr lvl="0"/>
            <a:r>
              <a:rPr lang="en-IN" sz="1600" dirty="0"/>
              <a:t>The distribution highlights the categories with the largest collection of books. </a:t>
            </a:r>
          </a:p>
          <a:p>
            <a:pPr marL="114300" indent="0">
              <a:buNone/>
            </a:pPr>
            <a:r>
              <a:rPr lang="en-IN" b="1" dirty="0"/>
              <a:t>Business Insights</a:t>
            </a:r>
          </a:p>
          <a:p>
            <a:pPr lvl="0"/>
            <a:r>
              <a:rPr lang="en-IN" sz="1700" dirty="0"/>
              <a:t>High-volume categories indicate greater product availability and customer interest. </a:t>
            </a:r>
          </a:p>
          <a:p>
            <a:pPr lvl="0"/>
            <a:r>
              <a:rPr lang="en-IN" sz="1700" dirty="0"/>
              <a:t>Retailers can focus on popular categories to improve sales and inventory planning. </a:t>
            </a:r>
          </a:p>
          <a:p>
            <a:pPr lvl="0"/>
            <a:r>
              <a:rPr lang="en-IN" sz="1700" dirty="0"/>
              <a:t>Understanding category distribution helps in making better marketing and stocking decisions.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A694F-7677-97FE-3EE4-78379DD3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083" y="998313"/>
            <a:ext cx="5073428" cy="29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8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3626-58C1-2716-7546-AAF0F215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7"/>
            <a:ext cx="10515600" cy="35396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>
                <a:solidFill>
                  <a:srgbClr val="FF0000"/>
                </a:solidFill>
              </a:rPr>
              <a:t>Books by Price Category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1377B-1C52-261D-8B38-E5F31AB9E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34065"/>
            <a:ext cx="10515600" cy="524289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600" dirty="0"/>
              <a:t>To classify books into Budget, Mid-Range, and </a:t>
            </a:r>
          </a:p>
          <a:p>
            <a:pPr marL="114300" indent="0">
              <a:buNone/>
            </a:pPr>
            <a:r>
              <a:rPr lang="en-IN" sz="1600" dirty="0"/>
              <a:t>        Premium categories and understand their distribution.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600" dirty="0"/>
              <a:t>Budget books have the </a:t>
            </a:r>
            <a:r>
              <a:rPr lang="en-IN" sz="1600" b="1" dirty="0"/>
              <a:t>lowest count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Mid-Range and Premium books have </a:t>
            </a:r>
            <a:r>
              <a:rPr lang="en-IN" sz="1600" b="1" dirty="0"/>
              <a:t>almost equal numbers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Most books belong to the Mid-Range and Premium price segments.</a:t>
            </a:r>
          </a:p>
          <a:p>
            <a:pPr marL="114300" indent="0">
              <a:buNone/>
            </a:pPr>
            <a:r>
              <a:rPr lang="en-IN" b="1" dirty="0"/>
              <a:t>Business Insights</a:t>
            </a:r>
          </a:p>
          <a:p>
            <a:pPr lvl="0"/>
            <a:r>
              <a:rPr lang="en-IN" sz="1600" dirty="0"/>
              <a:t>Customers have a wide selection of books in the Mid-Range and Premium categories. </a:t>
            </a:r>
          </a:p>
          <a:p>
            <a:pPr lvl="0"/>
            <a:r>
              <a:rPr lang="en-IN" sz="1600" dirty="0"/>
              <a:t>Retailers can maintain a balanced inventory across these price segments. </a:t>
            </a:r>
          </a:p>
          <a:p>
            <a:pPr lvl="0"/>
            <a:r>
              <a:rPr lang="en-IN" sz="1600" dirty="0"/>
              <a:t>Budget books represent a smaller portion of the </a:t>
            </a:r>
            <a:r>
              <a:rPr lang="en-IN" sz="1600" dirty="0" err="1"/>
              <a:t>catalog</a:t>
            </a:r>
            <a:r>
              <a:rPr lang="en-IN" sz="1600" dirty="0"/>
              <a:t>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A8B61-E938-61ED-9292-1B986CE3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303" y="462118"/>
            <a:ext cx="5040910" cy="341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931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8DE3-0BA0-0BBA-4417-553DA68E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2"/>
            <a:ext cx="10515600" cy="80624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Top 10 Categories by Average Price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E9586-13F1-AAC2-BA16-10F7A9DAA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32388"/>
            <a:ext cx="10515600" cy="514457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600" dirty="0"/>
              <a:t>To identify which book categories have the highest </a:t>
            </a:r>
          </a:p>
          <a:p>
            <a:pPr marL="114300" indent="0">
              <a:buNone/>
            </a:pPr>
            <a:r>
              <a:rPr lang="en-IN" sz="1600" dirty="0"/>
              <a:t>        average selling price.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600" b="1" dirty="0"/>
              <a:t>Suspense</a:t>
            </a:r>
            <a:r>
              <a:rPr lang="en-IN" sz="1600" dirty="0"/>
              <a:t> has the highest average price. </a:t>
            </a:r>
          </a:p>
          <a:p>
            <a:pPr lvl="0"/>
            <a:r>
              <a:rPr lang="en-IN" sz="1600" b="1" dirty="0"/>
              <a:t>Novels</a:t>
            </a:r>
            <a:r>
              <a:rPr lang="en-IN" sz="1600" dirty="0"/>
              <a:t> and </a:t>
            </a:r>
            <a:r>
              <a:rPr lang="en-IN" sz="1600" b="1" dirty="0"/>
              <a:t>Politics</a:t>
            </a:r>
            <a:r>
              <a:rPr lang="en-IN" sz="1600" dirty="0"/>
              <a:t> also have relatively high average prices. </a:t>
            </a:r>
          </a:p>
          <a:p>
            <a:pPr lvl="0"/>
            <a:r>
              <a:rPr lang="en-IN" sz="1600" b="1" dirty="0"/>
              <a:t>Fantasy</a:t>
            </a:r>
            <a:r>
              <a:rPr lang="en-IN" sz="1600" dirty="0"/>
              <a:t> and </a:t>
            </a:r>
            <a:r>
              <a:rPr lang="en-IN" sz="1600" b="1" dirty="0"/>
              <a:t>Travel</a:t>
            </a:r>
            <a:r>
              <a:rPr lang="en-IN" sz="1600" dirty="0"/>
              <a:t> have lower average prices among the top ten. </a:t>
            </a:r>
          </a:p>
          <a:p>
            <a:pPr marL="114300" indent="0">
              <a:buNone/>
            </a:pPr>
            <a:r>
              <a:rPr lang="en-IN" b="1" dirty="0"/>
              <a:t>Business Insights</a:t>
            </a:r>
          </a:p>
          <a:p>
            <a:pPr lvl="0"/>
            <a:r>
              <a:rPr lang="en-IN" sz="1600" dirty="0"/>
              <a:t>Premium-priced categories can generate higher revenue per book. </a:t>
            </a:r>
          </a:p>
          <a:p>
            <a:pPr lvl="0"/>
            <a:r>
              <a:rPr lang="en-IN" sz="1600" dirty="0"/>
              <a:t>Pricing varies across genres, allowing retailers to adopt category-specific pricing strategies. </a:t>
            </a:r>
          </a:p>
          <a:p>
            <a:pPr lvl="0"/>
            <a:r>
              <a:rPr lang="en-IN" sz="1600" dirty="0"/>
              <a:t>High-priced categories may require targeted marketing.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C8EB91-B4A5-2D57-C883-C0A29AA38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986" y="1032388"/>
            <a:ext cx="5035615" cy="289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44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F047F-A1A6-A329-214A-4E4EADBF9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10"/>
            <a:ext cx="10515600" cy="74725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Top 10 Categories by Average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AD627-1728-E44D-4FA1-C173D0C99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199535"/>
            <a:ext cx="11157155" cy="4977428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600" dirty="0"/>
              <a:t>To identify the categories that receive the highest customer </a:t>
            </a:r>
          </a:p>
          <a:p>
            <a:pPr marL="114300" indent="0">
              <a:buNone/>
            </a:pPr>
            <a:r>
              <a:rPr lang="en-IN" sz="1600" dirty="0"/>
              <a:t>         ratings.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700" b="1" dirty="0"/>
              <a:t>Erotica</a:t>
            </a:r>
            <a:r>
              <a:rPr lang="en-IN" sz="1700" dirty="0"/>
              <a:t>, </a:t>
            </a:r>
            <a:r>
              <a:rPr lang="en-IN" sz="1700" b="1" dirty="0"/>
              <a:t>Adult Fiction</a:t>
            </a:r>
            <a:r>
              <a:rPr lang="en-IN" sz="1700" dirty="0"/>
              <a:t>, and </a:t>
            </a:r>
            <a:r>
              <a:rPr lang="en-IN" sz="1700" b="1" dirty="0"/>
              <a:t>Novels</a:t>
            </a:r>
            <a:r>
              <a:rPr lang="en-IN" sz="1700" dirty="0"/>
              <a:t> have the highest </a:t>
            </a:r>
          </a:p>
          <a:p>
            <a:pPr marL="114300" lvl="0" indent="0">
              <a:buNone/>
            </a:pPr>
            <a:r>
              <a:rPr lang="en-IN" sz="1700" dirty="0"/>
              <a:t>       average ratings. </a:t>
            </a:r>
          </a:p>
          <a:p>
            <a:pPr lvl="0"/>
            <a:r>
              <a:rPr lang="en-IN" sz="1700" dirty="0"/>
              <a:t>Most of the top-rated categories have an average </a:t>
            </a:r>
          </a:p>
          <a:p>
            <a:pPr marL="114300" lvl="0" indent="0">
              <a:buNone/>
            </a:pPr>
            <a:r>
              <a:rPr lang="en-IN" sz="1700" dirty="0"/>
              <a:t>       rating above </a:t>
            </a:r>
            <a:r>
              <a:rPr lang="en-IN" sz="1700" b="1" dirty="0"/>
              <a:t>4 stars</a:t>
            </a:r>
            <a:r>
              <a:rPr lang="en-IN" sz="1700" dirty="0"/>
              <a:t>. </a:t>
            </a:r>
          </a:p>
          <a:p>
            <a:pPr lvl="0"/>
            <a:r>
              <a:rPr lang="en-IN" sz="1700" dirty="0"/>
              <a:t>Readers generally rate these categories positively. </a:t>
            </a:r>
          </a:p>
          <a:p>
            <a:pPr marL="114300" indent="0">
              <a:buNone/>
            </a:pPr>
            <a:r>
              <a:rPr lang="en-IN" b="1" dirty="0"/>
              <a:t>Business Insights</a:t>
            </a:r>
          </a:p>
          <a:p>
            <a:pPr lvl="0"/>
            <a:r>
              <a:rPr lang="en-IN" sz="1700" dirty="0"/>
              <a:t>Highly rated categories indicate strong customer satisfaction. </a:t>
            </a:r>
          </a:p>
          <a:p>
            <a:pPr lvl="0"/>
            <a:r>
              <a:rPr lang="en-IN" sz="1700" dirty="0"/>
              <a:t>These categories can be recommended to improve customer engagement and sales. </a:t>
            </a:r>
          </a:p>
          <a:p>
            <a:pPr lvl="0"/>
            <a:r>
              <a:rPr lang="en-IN" sz="1700" dirty="0"/>
              <a:t>Businesses can promote highly rated genres to attract more readers.</a:t>
            </a:r>
          </a:p>
          <a:p>
            <a:pPr marL="114300" lv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3820B-3A33-A265-F3C2-27AAC4FFC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296" y="1563330"/>
            <a:ext cx="5466735" cy="320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7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3A49-65DB-0BCD-9F59-E24533D7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707922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Price Distribution by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5EA94-7670-3B6E-4469-34D356C9C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71716"/>
            <a:ext cx="10515600" cy="510524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700" dirty="0"/>
              <a:t>To analyse how book prices vary across different rating levels.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700" dirty="0"/>
              <a:t>The price ranges are similar across all rating levels. </a:t>
            </a:r>
          </a:p>
          <a:p>
            <a:pPr lvl="0"/>
            <a:r>
              <a:rPr lang="en-IN" sz="1700" dirty="0"/>
              <a:t>Books with higher ratings are not always more expensive. </a:t>
            </a:r>
          </a:p>
          <a:p>
            <a:pPr lvl="0"/>
            <a:r>
              <a:rPr lang="en-IN" sz="1700" dirty="0"/>
              <a:t>The median prices are relatively consistent across ratings. </a:t>
            </a:r>
          </a:p>
          <a:p>
            <a:r>
              <a:rPr lang="en-IN" b="1" dirty="0"/>
              <a:t>Business Insights</a:t>
            </a:r>
          </a:p>
          <a:p>
            <a:pPr lvl="0"/>
            <a:r>
              <a:rPr lang="en-IN" sz="1600" dirty="0"/>
              <a:t>Book price does not strongly influence customer ratings. </a:t>
            </a:r>
          </a:p>
          <a:p>
            <a:pPr lvl="0"/>
            <a:r>
              <a:rPr lang="en-IN" sz="1600" dirty="0"/>
              <a:t>Customers appear to value the content and quality of books more than their price. </a:t>
            </a:r>
          </a:p>
          <a:p>
            <a:pPr lvl="0"/>
            <a:r>
              <a:rPr lang="en-IN" sz="1600" dirty="0"/>
              <a:t>Businesses should focus on improving book quality rather than increasing prices. 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F1B78-E4E1-63E2-8B45-CD59CBBCF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681037"/>
            <a:ext cx="5069764" cy="35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91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995A-6DFD-50CE-6E21-2B08E279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310"/>
            <a:ext cx="10515600" cy="61943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</a:rPr>
              <a:t>Rating vs Price by Price Category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CB1D9-13C6-DE92-997A-293625647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4232"/>
            <a:ext cx="10515600" cy="52527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b="1" dirty="0"/>
              <a:t>Objective</a:t>
            </a:r>
          </a:p>
          <a:p>
            <a:r>
              <a:rPr lang="en-IN" sz="1700" dirty="0"/>
              <a:t>To examine the relationship between book ratings, </a:t>
            </a:r>
          </a:p>
          <a:p>
            <a:pPr marL="114300" indent="0">
              <a:buNone/>
            </a:pPr>
            <a:r>
              <a:rPr lang="en-IN" sz="1700" dirty="0"/>
              <a:t>       prices, and price categories.</a:t>
            </a:r>
          </a:p>
          <a:p>
            <a:pPr marL="114300" indent="0">
              <a:buNone/>
            </a:pPr>
            <a:r>
              <a:rPr lang="en-IN" b="1" dirty="0"/>
              <a:t>Observations</a:t>
            </a:r>
          </a:p>
          <a:p>
            <a:pPr lvl="0"/>
            <a:r>
              <a:rPr lang="en-IN" sz="1700" dirty="0"/>
              <a:t>Books from all price categories are distributed across</a:t>
            </a:r>
          </a:p>
          <a:p>
            <a:pPr marL="114300" lvl="0" indent="0">
              <a:buNone/>
            </a:pPr>
            <a:r>
              <a:rPr lang="en-IN" sz="1700" dirty="0"/>
              <a:t>       every rating level. </a:t>
            </a:r>
          </a:p>
          <a:p>
            <a:pPr lvl="0"/>
            <a:r>
              <a:rPr lang="en-IN" sz="1700" dirty="0"/>
              <a:t>High-rated books exist in Budget, Mid-Range, and Premium</a:t>
            </a:r>
          </a:p>
          <a:p>
            <a:pPr marL="114300" lvl="0" indent="0">
              <a:buNone/>
            </a:pPr>
            <a:r>
              <a:rPr lang="en-IN" sz="1700" dirty="0"/>
              <a:t>        segments. </a:t>
            </a:r>
          </a:p>
          <a:p>
            <a:pPr lvl="0"/>
            <a:r>
              <a:rPr lang="en-IN" sz="1700" dirty="0"/>
              <a:t>There is no strong correlation between price and rating. </a:t>
            </a:r>
          </a:p>
          <a:p>
            <a:pPr marL="114300" indent="0">
              <a:buNone/>
            </a:pPr>
            <a:r>
              <a:rPr lang="en-IN" b="1" dirty="0"/>
              <a:t>Business Insights</a:t>
            </a:r>
          </a:p>
          <a:p>
            <a:pPr lvl="0"/>
            <a:r>
              <a:rPr lang="en-IN" sz="1600" dirty="0"/>
              <a:t>Customers can find highly rated books at every price level. </a:t>
            </a:r>
          </a:p>
          <a:p>
            <a:pPr lvl="0"/>
            <a:r>
              <a:rPr lang="en-IN" sz="1600" dirty="0"/>
              <a:t>Premium pricing does not guarantee better ratings. </a:t>
            </a:r>
          </a:p>
          <a:p>
            <a:pPr lvl="0"/>
            <a:r>
              <a:rPr lang="en-IN" sz="1600" dirty="0"/>
              <a:t>Retailers should focus on maintaining quality across all price segments.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9478E-2FE1-355B-C223-489360D0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294" y="1322778"/>
            <a:ext cx="5001319" cy="35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79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0690-11C3-1127-8863-34F9027E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5"/>
            <a:ext cx="10515600" cy="973392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Key Business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C9C5B-30BE-B676-DA5E-0FE90C05E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89704"/>
            <a:ext cx="10515600" cy="4987260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IN" b="1" dirty="0"/>
              <a:t>Pricing Insights</a:t>
            </a:r>
          </a:p>
          <a:p>
            <a:pPr lvl="0"/>
            <a:r>
              <a:rPr lang="en-IN" sz="1900" dirty="0"/>
              <a:t>Most books belong to the </a:t>
            </a:r>
            <a:r>
              <a:rPr lang="en-IN" sz="1900" b="1" dirty="0"/>
              <a:t>Mid-Range and Premium</a:t>
            </a:r>
            <a:r>
              <a:rPr lang="en-IN" sz="1900" dirty="0"/>
              <a:t> price categories. </a:t>
            </a:r>
          </a:p>
          <a:p>
            <a:pPr lvl="0"/>
            <a:r>
              <a:rPr lang="en-IN" sz="1900" dirty="0"/>
              <a:t>Budget books represent a smaller portion of the overall collection. </a:t>
            </a:r>
          </a:p>
          <a:p>
            <a:pPr marL="114300" indent="0">
              <a:buNone/>
            </a:pPr>
            <a:r>
              <a:rPr lang="en-IN" b="1" dirty="0"/>
              <a:t>Customer Rating Insights</a:t>
            </a:r>
          </a:p>
          <a:p>
            <a:pPr lvl="0"/>
            <a:r>
              <a:rPr lang="en-IN" sz="1900" dirty="0"/>
              <a:t>Highly rated books are available across all price categories. </a:t>
            </a:r>
          </a:p>
          <a:p>
            <a:pPr lvl="0"/>
            <a:r>
              <a:rPr lang="en-IN" sz="1900" dirty="0"/>
              <a:t>Higher prices do not necessarily result in better customer ratings. </a:t>
            </a:r>
          </a:p>
          <a:p>
            <a:pPr marL="114300" indent="0">
              <a:buNone/>
            </a:pPr>
            <a:r>
              <a:rPr lang="en-IN" b="1" dirty="0"/>
              <a:t>Category Insights</a:t>
            </a:r>
          </a:p>
          <a:p>
            <a:pPr lvl="0"/>
            <a:r>
              <a:rPr lang="en-IN" sz="1900" b="1" dirty="0"/>
              <a:t>Suspense</a:t>
            </a:r>
            <a:r>
              <a:rPr lang="en-IN" sz="1900" dirty="0"/>
              <a:t> has the highest average book price. </a:t>
            </a:r>
          </a:p>
          <a:p>
            <a:pPr lvl="0"/>
            <a:r>
              <a:rPr lang="en-IN" sz="1900" b="1" dirty="0"/>
              <a:t>Erotica</a:t>
            </a:r>
            <a:r>
              <a:rPr lang="en-IN" sz="1900" dirty="0"/>
              <a:t>, </a:t>
            </a:r>
            <a:r>
              <a:rPr lang="en-IN" sz="1900" b="1" dirty="0"/>
              <a:t>Adult Fiction</a:t>
            </a:r>
            <a:r>
              <a:rPr lang="en-IN" sz="1900" dirty="0"/>
              <a:t>, and </a:t>
            </a:r>
            <a:r>
              <a:rPr lang="en-IN" sz="1900" b="1" dirty="0"/>
              <a:t>Novels</a:t>
            </a:r>
            <a:r>
              <a:rPr lang="en-IN" sz="1900" dirty="0"/>
              <a:t> have the highest average ratings. </a:t>
            </a:r>
          </a:p>
          <a:p>
            <a:pPr marL="114300" indent="0">
              <a:buNone/>
            </a:pPr>
            <a:r>
              <a:rPr lang="en-IN" b="1" dirty="0"/>
              <a:t>Overall Insight</a:t>
            </a:r>
          </a:p>
          <a:p>
            <a:pPr lvl="0"/>
            <a:r>
              <a:rPr lang="en-IN" sz="1700" dirty="0"/>
              <a:t>Customers value </a:t>
            </a:r>
            <a:r>
              <a:rPr lang="en-IN" sz="1700" b="1" dirty="0"/>
              <a:t>book quality and content</a:t>
            </a:r>
            <a:r>
              <a:rPr lang="en-IN" sz="1700" dirty="0"/>
              <a:t> more than price. </a:t>
            </a:r>
          </a:p>
          <a:p>
            <a:pPr lvl="0"/>
            <a:r>
              <a:rPr lang="en-IN" sz="1700" dirty="0"/>
              <a:t>Both pricing strategy and customer ratings should be considered when recommending books. 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4350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02BC-B87D-9287-62F0-60B9E886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16"/>
            <a:ext cx="10515600" cy="104221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4DD68-375F-3885-C447-771B34D1D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6683"/>
            <a:ext cx="10515600" cy="4810279"/>
          </a:xfrm>
        </p:spPr>
        <p:txBody>
          <a:bodyPr/>
          <a:lstStyle/>
          <a:p>
            <a:pPr lvl="0"/>
            <a:r>
              <a:rPr lang="en-IN" dirty="0"/>
              <a:t>Increase inventory for high-rated, fast-selling categories. </a:t>
            </a:r>
          </a:p>
          <a:p>
            <a:pPr lvl="0"/>
            <a:r>
              <a:rPr lang="en-IN" dirty="0"/>
              <a:t>Promote affordable books with 4- and 5-star ratings. </a:t>
            </a:r>
          </a:p>
          <a:p>
            <a:pPr lvl="0"/>
            <a:r>
              <a:rPr lang="en-IN" dirty="0"/>
              <a:t>Offer discounts on expensive books with lower ratings. </a:t>
            </a:r>
          </a:p>
          <a:p>
            <a:pPr lvl="0"/>
            <a:r>
              <a:rPr lang="en-IN" dirty="0"/>
              <a:t>Bundle books from popular categories to increase sales. </a:t>
            </a:r>
          </a:p>
          <a:p>
            <a:pPr lvl="0"/>
            <a:r>
              <a:rPr lang="en-IN" dirty="0"/>
              <a:t>Focus marketing campaigns on categories with strong customer satisfaction.</a:t>
            </a:r>
          </a:p>
          <a:p>
            <a:pPr marL="11430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83624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257F-615D-1790-C5B2-907E67E0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52"/>
            <a:ext cx="10515600" cy="1160206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4095-43C5-8EA6-F0FA-C6D5D991D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1548"/>
            <a:ext cx="10515600" cy="5095415"/>
          </a:xfrm>
        </p:spPr>
        <p:txBody>
          <a:bodyPr/>
          <a:lstStyle/>
          <a:p>
            <a:pPr marL="114300" indent="0">
              <a:buNone/>
            </a:pPr>
            <a:endParaRPr lang="en-IN" b="1" dirty="0"/>
          </a:p>
          <a:p>
            <a:pPr lvl="0"/>
            <a:r>
              <a:rPr lang="en-IN" sz="2400" dirty="0"/>
              <a:t>Successfully collected book data using </a:t>
            </a:r>
            <a:r>
              <a:rPr lang="en-IN" sz="2400" b="1" dirty="0"/>
              <a:t>Web Scraping</a:t>
            </a:r>
            <a:r>
              <a:rPr lang="en-IN" sz="2400" dirty="0"/>
              <a:t> with Python and Beautiful Soup. </a:t>
            </a:r>
          </a:p>
          <a:p>
            <a:pPr lvl="0"/>
            <a:r>
              <a:rPr lang="en-IN" sz="2400" dirty="0"/>
              <a:t>Cleaned and transformed the dataset for accurate analysis. </a:t>
            </a:r>
          </a:p>
          <a:p>
            <a:pPr lvl="0"/>
            <a:r>
              <a:rPr lang="en-IN" sz="2400" dirty="0"/>
              <a:t>Performed Exploratory Data Analysis using </a:t>
            </a:r>
            <a:r>
              <a:rPr lang="en-IN" sz="2400" b="1" dirty="0"/>
              <a:t>Pandas, Matplotlib, and Seaborn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Identified pricing patterns, customer rating trends, and category-wise performance. </a:t>
            </a:r>
          </a:p>
          <a:p>
            <a:pPr lvl="0"/>
            <a:r>
              <a:rPr lang="en-IN" sz="2400" dirty="0"/>
              <a:t>The project demonstrates how web scraping and data analytics can support data-driven business decisions in the online book market. 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170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01C1-23BC-140F-425F-296E43699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4"/>
            <a:ext cx="10515600" cy="110121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Challenges Faced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A1903-2BAB-E12F-D416-8121845AF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5006"/>
            <a:ext cx="10515600" cy="4711957"/>
          </a:xfrm>
        </p:spPr>
        <p:txBody>
          <a:bodyPr/>
          <a:lstStyle/>
          <a:p>
            <a:pPr lvl="0"/>
            <a:r>
              <a:rPr lang="en-IN" sz="2400" dirty="0"/>
              <a:t>Extracting data from multiple web pages. </a:t>
            </a:r>
          </a:p>
          <a:p>
            <a:pPr lvl="0"/>
            <a:r>
              <a:rPr lang="en-IN" sz="2400" dirty="0"/>
              <a:t>Parsing HTML elements accurately using Beautiful Soup. </a:t>
            </a:r>
          </a:p>
          <a:p>
            <a:pPr lvl="0"/>
            <a:r>
              <a:rPr lang="en-IN" sz="2400" dirty="0"/>
              <a:t>Cleaning and transforming raw scraped data. </a:t>
            </a:r>
          </a:p>
          <a:p>
            <a:pPr lvl="0"/>
            <a:r>
              <a:rPr lang="en-IN" sz="2400" dirty="0"/>
              <a:t>Converting text-based ratings into numerical values. </a:t>
            </a:r>
          </a:p>
          <a:p>
            <a:pPr lvl="0"/>
            <a:r>
              <a:rPr lang="en-IN" sz="2400" dirty="0"/>
              <a:t>Creating meaningful visualizations for business analysis. </a:t>
            </a:r>
          </a:p>
          <a:p>
            <a:pPr lvl="0"/>
            <a:r>
              <a:rPr lang="en-IN" sz="2400" dirty="0"/>
              <a:t>Interpreting the results to generate actionable business insights.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1029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3046</TotalTime>
  <Words>1296</Words>
  <Application>Microsoft Office PowerPoint</Application>
  <PresentationFormat>Widescreen</PresentationFormat>
  <Paragraphs>204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Libre Baskerville</vt:lpstr>
      <vt:lpstr>Lato Black</vt:lpstr>
      <vt:lpstr>Office Theme</vt:lpstr>
      <vt:lpstr>PowerPoint Presentation</vt:lpstr>
      <vt:lpstr>PowerPoint Presentation</vt:lpstr>
      <vt:lpstr>Agenda   </vt:lpstr>
      <vt:lpstr>Problem Statement &amp; Objective</vt:lpstr>
      <vt:lpstr>Dataset Collection</vt:lpstr>
      <vt:lpstr>Data Cleaning &amp; Preparation</vt:lpstr>
      <vt:lpstr>Exploratory Data Analysis: Price Distribution</vt:lpstr>
      <vt:lpstr>Rating Distribution Analysis</vt:lpstr>
      <vt:lpstr>Category Analysis</vt:lpstr>
      <vt:lpstr> Books by Price Category </vt:lpstr>
      <vt:lpstr>Top 10 Categories by Average Price</vt:lpstr>
      <vt:lpstr>Top 10 Categories by Average Rating</vt:lpstr>
      <vt:lpstr>Price Distribution by Rating</vt:lpstr>
      <vt:lpstr> Rating vs Price by Price Category</vt:lpstr>
      <vt:lpstr>Key Business Insights</vt:lpstr>
      <vt:lpstr>Recommendations</vt:lpstr>
      <vt:lpstr>Conclusion</vt:lpstr>
      <vt:lpstr>Challenges Faced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RAMYA KYPA</cp:lastModifiedBy>
  <cp:revision>3</cp:revision>
  <dcterms:created xsi:type="dcterms:W3CDTF">2021-02-16T05:19:01Z</dcterms:created>
  <dcterms:modified xsi:type="dcterms:W3CDTF">2026-08-03T10:49:27Z</dcterms:modified>
</cp:coreProperties>
</file>